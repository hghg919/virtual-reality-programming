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8" r:id="rId12"/>
    <p:sldId id="265" r:id="rId13"/>
    <p:sldId id="266" r:id="rId1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14" y="96"/>
      </p:cViewPr>
      <p:guideLst>
        <p:guide orient="horz" pos="215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E:\&#44592;&#47568;&#44284;&#51228;-&#52572;&#51333;(&#49688;&#51221;&#51032;&#49688;&#51221;)\&#44592;&#47568;&#44284;&#51228;-&#52572;&#51333;(&#49688;&#51221;&#51032;&#49688;&#51221;)\MedicineManager.mp4" TargetMode="External"/><Relationship Id="rId1" Type="http://schemas.microsoft.com/office/2007/relationships/media" Target="file:///E:\&#44592;&#47568;&#44284;&#51228;-&#52572;&#51333;(&#49688;&#51221;&#51032;&#49688;&#51221;)\&#44592;&#47568;&#44284;&#51228;-&#52572;&#51333;(&#49688;&#51221;&#51032;&#49688;&#51221;)\MedicineManager.mp4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500"/>
            <a:ext cx="3048000" cy="812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400" y="12103100"/>
            <a:ext cx="119634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473200"/>
            <a:ext cx="533400" cy="368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241800" y="2476500"/>
            <a:ext cx="10210800" cy="3327400"/>
          </a:xfrm>
          <a:prstGeom prst="rect">
            <a:avLst/>
          </a:prstGeom>
        </p:spPr>
        <p:txBody>
          <a:bodyPr lIns="0" tIns="59266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sz="9428" b="0" i="0" u="none" strike="noStrike" spc="-283">
                <a:solidFill>
                  <a:srgbClr val="1A1A1A"/>
                </a:solidFill>
                <a:ea typeface="Pretendard ExtraBold"/>
              </a:rPr>
              <a:t>약품</a:t>
            </a:r>
            <a:r>
              <a:rPr lang="en-US" sz="9428" b="0" i="0" u="none" strike="noStrike" spc="-283">
                <a:solidFill>
                  <a:srgbClr val="1A1A1A"/>
                </a:solidFill>
                <a:latin typeface="Pretendard ExtraBold"/>
              </a:rPr>
              <a:t> </a:t>
            </a:r>
            <a:r>
              <a:rPr lang="ko-KR" sz="9428" b="0" i="0" u="none" strike="noStrike" spc="-283">
                <a:solidFill>
                  <a:srgbClr val="1A1A1A"/>
                </a:solidFill>
                <a:ea typeface="Pretendard ExtraBold"/>
              </a:rPr>
              <a:t>관리</a:t>
            </a:r>
          </a:p>
          <a:p>
            <a:pPr lvl="0" algn="l">
              <a:lnSpc>
                <a:spcPct val="107899"/>
              </a:lnSpc>
            </a:pPr>
            <a:r>
              <a:rPr lang="en-US" sz="9428" b="0" i="0" u="none" strike="noStrike" spc="-283">
                <a:solidFill>
                  <a:srgbClr val="1A1A1A"/>
                </a:solidFill>
                <a:latin typeface="Pretendard ExtraBold"/>
              </a:rPr>
              <a:t>          </a:t>
            </a:r>
            <a:r>
              <a:rPr lang="ko-KR" sz="9428" b="0" i="0" u="none" strike="noStrike" spc="-283">
                <a:solidFill>
                  <a:srgbClr val="1A1A1A"/>
                </a:solidFill>
                <a:ea typeface="Pretendard ExtraBold"/>
              </a:rPr>
              <a:t>프로그램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93000" y="11811000"/>
            <a:ext cx="3111500" cy="8509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2400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202</a:t>
            </a:r>
            <a:r>
              <a:rPr lang="en-US" altLang="ko-KR" sz="2400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50176</a:t>
            </a:r>
            <a:r>
              <a:rPr lang="en-US" sz="2400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 </a:t>
            </a:r>
            <a:r>
              <a:rPr lang="ko-KR" altLang="en-US" sz="2400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정현준</a:t>
            </a:r>
          </a:p>
          <a:p>
            <a:pPr lvl="0" algn="l">
              <a:lnSpc>
                <a:spcPct val="116199"/>
              </a:lnSpc>
              <a:defRPr/>
            </a:pPr>
            <a:r>
              <a:rPr lang="en-US" sz="2400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20248004 </a:t>
            </a:r>
            <a:r>
              <a:rPr lang="ko-KR" sz="2400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최효준</a:t>
            </a:r>
          </a:p>
          <a:p>
            <a:pPr lvl="0" algn="l">
              <a:lnSpc>
                <a:spcPct val="116199"/>
              </a:lnSpc>
              <a:defRPr/>
            </a:pPr>
            <a:endParaRPr lang="ko-KR" sz="2400" b="0" i="0" u="none" strike="noStrike" spc="-48">
              <a:solidFill>
                <a:srgbClr val="1A1A1A"/>
              </a:solidFill>
              <a:latin typeface="메이플스토리"/>
              <a:ea typeface="메이플스토리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241800" y="1409700"/>
            <a:ext cx="3416300" cy="43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2400" b="0" i="0" u="none" strike="noStrike" spc="-48">
                <a:solidFill>
                  <a:srgbClr val="1A1A1A"/>
                </a:solidFill>
                <a:latin typeface="Poppins Bold"/>
              </a:rPr>
              <a:t>MedicineManager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473200" y="4927600"/>
          <a:ext cx="19558002" cy="3855751"/>
        </p:xfrm>
        <a:graphic>
          <a:graphicData uri="http://schemas.openxmlformats.org/drawingml/2006/table">
            <a:tbl>
              <a:tblPr/>
              <a:tblGrid>
                <a:gridCol w="1546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5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5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02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84505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" sz="5999" b="0" i="0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ko-KR" sz="2933" b="0" i="0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프로젝트 개요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" sz="5999" b="0" i="0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ko-KR" sz="2933" b="0" i="0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주요 기능 및 시연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1246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" sz="5999" b="0" i="0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ko-KR" sz="2933" b="0" i="0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개발 과정에서 배운 점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" sz="5999" b="0" i="0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" sz="2933" b="0" i="0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개선 사항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" sz="5999" b="0" i="0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0</a:t>
                      </a:r>
                      <a:r>
                        <a:rPr lang="en-US" altLang="ko-KR" sz="5999" b="0" i="0" u="none" strike="noStrike">
                          <a:solidFill>
                            <a:srgbClr val="509BF8"/>
                          </a:solidFill>
                          <a:latin typeface="Poppins Bold"/>
                        </a:rPr>
                        <a:t>5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933" b="0" i="0" u="none" strike="noStrike">
                          <a:solidFill>
                            <a:srgbClr val="1A1A1A"/>
                          </a:solidFill>
                          <a:ea typeface="Pretendard Bold"/>
                        </a:rPr>
                        <a:t>질의응답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473200" y="1447800"/>
            <a:ext cx="46101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50419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5333" b="0" i="0" u="none" strike="noStrike" spc="-160">
                <a:solidFill>
                  <a:srgbClr val="1A1A1A"/>
                </a:solidFill>
                <a:ea typeface="Pretendard ExtraBold"/>
              </a:rPr>
              <a:t>프로젝트 개요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1684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9400" y="3683000"/>
            <a:ext cx="24384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2666" b="0" i="0" u="none" strike="noStrike" spc="-53">
                <a:solidFill>
                  <a:srgbClr val="FFFFFF"/>
                </a:solidFill>
                <a:ea typeface="Pretendard Bold"/>
              </a:rPr>
              <a:t>매체</a:t>
            </a:r>
            <a:r>
              <a:rPr lang="en-US" sz="2666" b="0" i="0" u="none" strike="noStrike" spc="-5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666" b="0" i="0" u="none" strike="noStrike" spc="-53">
                <a:solidFill>
                  <a:srgbClr val="FFFFFF"/>
                </a:solidFill>
                <a:ea typeface="Pretendard Bold"/>
              </a:rPr>
              <a:t>광고비</a:t>
            </a:r>
            <a:r>
              <a:rPr lang="en-US" sz="2666" b="0" i="0" u="none" strike="noStrike" spc="-53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2666" b="0" i="0" u="none" strike="noStrike" spc="-53">
                <a:solidFill>
                  <a:srgbClr val="FFFFFF"/>
                </a:solidFill>
                <a:ea typeface="Pretendard Bold"/>
              </a:rPr>
              <a:t>비교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7404100"/>
            <a:ext cx="10439400" cy="2197100"/>
          </a:xfrm>
          <a:prstGeom prst="rect">
            <a:avLst/>
          </a:prstGeom>
        </p:spPr>
        <p:txBody>
          <a:bodyPr anchor="t"/>
          <a:lstStyle/>
          <a:p>
            <a:pPr marL="600759" lvl="0" indent="-600759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가정 내 상비약의 유통기한 관리 부재</a:t>
            </a:r>
          </a:p>
          <a:p>
            <a:pPr marL="600759" lvl="0" indent="-600759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유통기한 경과 약품 복용으로 인한 건강 위협</a:t>
            </a:r>
          </a:p>
          <a:p>
            <a:pPr marL="600759" lvl="0" indent="-600759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무분별한 의약품 폐기로 인한 자원 낭비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70400" y="5575300"/>
            <a:ext cx="4445000" cy="1257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7073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정의</a:t>
            </a:r>
            <a:endParaRPr lang="en-US" sz="7073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487400" y="5600700"/>
            <a:ext cx="7797800" cy="1257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아이디어</a:t>
            </a:r>
            <a:r>
              <a:rPr lang="en-US" sz="7073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선정</a:t>
            </a:r>
            <a:r>
              <a:rPr lang="en-US" sz="7073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이유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63400" y="7467600"/>
            <a:ext cx="10972800" cy="2197100"/>
          </a:xfrm>
          <a:prstGeom prst="rect">
            <a:avLst/>
          </a:prstGeom>
        </p:spPr>
        <p:txBody>
          <a:bodyPr anchor="t"/>
          <a:lstStyle/>
          <a:p>
            <a:pPr marL="571200" lvl="0" indent="-571200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의약품 오남용 방지 및 가정 내 안전 확보</a:t>
            </a:r>
            <a:endParaRPr lang="en-US" sz="3800" b="0" i="0" u="none" strike="noStrike">
              <a:solidFill>
                <a:srgbClr val="000000"/>
              </a:solidFill>
              <a:latin typeface="Pretendard Regular"/>
            </a:endParaRPr>
          </a:p>
          <a:p>
            <a:pPr marL="571200" lvl="0" indent="-571200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캘린더/차트를 활용한직관적인 시각화 정보 제공</a:t>
            </a:r>
            <a:endParaRPr lang="en-US" sz="3800" b="0" i="0" u="none" strike="noStrike">
              <a:solidFill>
                <a:srgbClr val="000000"/>
              </a:solidFill>
              <a:latin typeface="Pretendard Regular"/>
            </a:endParaRPr>
          </a:p>
          <a:p>
            <a:pPr marL="571200" lvl="0" indent="-571200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개인별 맞춤형 DB 관리 시스템 구현</a:t>
            </a:r>
            <a:r>
              <a:rPr lang="en-US" sz="38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8280400" cy="9525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5333" b="0" i="0" u="none" strike="noStrike" spc="-160">
                <a:solidFill>
                  <a:srgbClr val="1A1A1A"/>
                </a:solidFill>
                <a:ea typeface="Pretendard ExtraBold"/>
              </a:rPr>
              <a:t>주요 기능 및 시연 - 회원 관리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4224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53800" y="5486400"/>
            <a:ext cx="11277600" cy="5257800"/>
          </a:xfrm>
          <a:prstGeom prst="rect">
            <a:avLst/>
          </a:prstGeom>
        </p:spPr>
        <p:txBody>
          <a:bodyPr anchor="t"/>
          <a:lstStyle/>
          <a:p>
            <a:pPr marL="600759" lvl="0" indent="-600759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데이터 무결성 확보</a:t>
            </a:r>
            <a:endParaRPr lang="en-US" altLang="ko-KR" sz="3800" b="1" i="0" u="none" strike="noStrike">
              <a:solidFill>
                <a:srgbClr val="000000"/>
              </a:solidFill>
              <a:ea typeface="Pretendard Regular"/>
            </a:endParaRPr>
          </a:p>
          <a:p>
            <a:pPr marL="0" lvl="0" indent="0" algn="l">
              <a:lnSpc>
                <a:spcPct val="116199"/>
              </a:lnSpc>
              <a:buFont typeface="Arial"/>
              <a:buNone/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SQLite DB 연동을 통한 안전한 회원 정보 저장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아이디 중복 체크 및 필수 입력값 검증 로직 구현</a:t>
            </a:r>
          </a:p>
          <a:p>
            <a:pPr lvl="0" algn="l">
              <a:lnSpc>
                <a:spcPct val="116199"/>
              </a:lnSpc>
              <a:defRPr/>
            </a:pP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600759" lvl="0" indent="-600759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개인화 서비스 제공</a:t>
            </a: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사용자 고유 ID(Primary Key)를 기반으로 개인별 약품 데이터 분리 관리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25400" y="4000500"/>
            <a:ext cx="7848600" cy="1257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7073" b="0" i="0" u="none" strike="noStrike">
                <a:solidFill>
                  <a:srgbClr val="000000"/>
                </a:solidFill>
                <a:ea typeface="Pretendard Bold"/>
              </a:rPr>
              <a:t>회원가입 및 로그인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3600" y="3289300"/>
            <a:ext cx="3962400" cy="7429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05600" y="3289300"/>
            <a:ext cx="4102100" cy="7429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117856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5333" b="0" i="0" u="none" strike="noStrike" spc="-160" dirty="0">
                <a:solidFill>
                  <a:srgbClr val="1A1A1A"/>
                </a:solidFill>
                <a:ea typeface="Pretendard ExtraBold"/>
              </a:rPr>
              <a:t>주요 기능 및 시연 - 약품 등록 및 관리</a:t>
            </a:r>
            <a:endParaRPr lang="en-US" altLang="ko-KR" sz="5333" b="0" i="0" u="none" strike="noStrike" spc="-160" dirty="0">
              <a:solidFill>
                <a:srgbClr val="1A1A1A"/>
              </a:solidFill>
              <a:ea typeface="Pretendard 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422400" cy="1066800"/>
          </a:xfrm>
          <a:prstGeom prst="rect">
            <a:avLst/>
          </a:prstGeom>
        </p:spPr>
        <p:txBody>
          <a:bodyPr lIns="0" tIns="7620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63400" y="4114800"/>
            <a:ext cx="10439400" cy="7543800"/>
          </a:xfrm>
          <a:prstGeom prst="rect">
            <a:avLst/>
          </a:prstGeom>
        </p:spPr>
        <p:txBody>
          <a:bodyPr anchor="t"/>
          <a:lstStyle/>
          <a:p>
            <a:pPr marL="542640" lvl="0" indent="-542640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1" i="0" u="none" strike="noStrike" dirty="0">
                <a:solidFill>
                  <a:srgbClr val="000000"/>
                </a:solidFill>
                <a:ea typeface="Pretendard Regular"/>
              </a:rPr>
              <a:t>약품 데이터 CRUD 구현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 dirty="0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 dirty="0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약품 정보(이름, 종류, 사진 등) 생성(</a:t>
            </a:r>
            <a:r>
              <a:rPr lang="ko-KR" sz="3800" b="0" i="0" u="none" strike="noStrike" dirty="0" err="1">
                <a:solidFill>
                  <a:srgbClr val="000000"/>
                </a:solidFill>
                <a:ea typeface="Pretendard Regular"/>
              </a:rPr>
              <a:t>Create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), 조회(</a:t>
            </a:r>
            <a:r>
              <a:rPr lang="ko-KR" sz="3800" b="0" i="0" u="none" strike="noStrike" dirty="0" err="1">
                <a:solidFill>
                  <a:srgbClr val="000000"/>
                </a:solidFill>
                <a:ea typeface="Pretendard Regular"/>
              </a:rPr>
              <a:t>Read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), 수정(</a:t>
            </a:r>
            <a:r>
              <a:rPr lang="ko-KR" sz="3800" b="0" i="0" u="none" strike="noStrike" dirty="0" err="1">
                <a:solidFill>
                  <a:srgbClr val="000000"/>
                </a:solidFill>
                <a:ea typeface="Pretendard Regular"/>
              </a:rPr>
              <a:t>Update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), 삭제(</a:t>
            </a:r>
            <a:r>
              <a:rPr lang="ko-KR" sz="3800" b="0" i="0" u="none" strike="noStrike" dirty="0" err="1">
                <a:solidFill>
                  <a:srgbClr val="000000"/>
                </a:solidFill>
                <a:ea typeface="Pretendard Regular"/>
              </a:rPr>
              <a:t>Delete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) 기능 완벽 구현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 dirty="0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 dirty="0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 dirty="0" err="1">
                <a:solidFill>
                  <a:srgbClr val="000000"/>
                </a:solidFill>
                <a:ea typeface="Pretendard Regular"/>
              </a:rPr>
              <a:t>SQLite와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 실시간 연동하여 앱 재실행 시에도 데이터 유지</a:t>
            </a:r>
          </a:p>
          <a:p>
            <a:pPr lvl="0" algn="l">
              <a:lnSpc>
                <a:spcPct val="116199"/>
              </a:lnSpc>
              <a:defRPr/>
            </a:pPr>
            <a:endParaRPr lang="ko-KR" sz="3800" b="1" i="0" u="none" strike="noStrike" dirty="0">
              <a:solidFill>
                <a:srgbClr val="000000"/>
              </a:solidFill>
              <a:ea typeface="Pretendard Regular"/>
            </a:endParaRPr>
          </a:p>
          <a:p>
            <a:pPr marL="542640" lvl="0" indent="-542640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1" i="0" u="none" strike="noStrike" dirty="0">
                <a:solidFill>
                  <a:srgbClr val="000000"/>
                </a:solidFill>
                <a:ea typeface="Pretendard Regular"/>
              </a:rPr>
              <a:t>사용자 편의 기능</a:t>
            </a:r>
            <a:endParaRPr lang="ko-KR" sz="3800" b="0" i="0" u="none" strike="noStrike" dirty="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 dirty="0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다양한 정렬 지원: 제품명, 종류, 유통기한순 정렬 알고리즘 적용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 dirty="0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 dirty="0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 dirty="0">
                <a:solidFill>
                  <a:srgbClr val="000000"/>
                </a:solidFill>
                <a:ea typeface="Pretendard Regular"/>
              </a:rPr>
              <a:t>상세 정보 관리: 리스트 더블 클릭 시 상세 팝업을 통한 직관적인 정보 수정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0" y="2895600"/>
            <a:ext cx="10896600" cy="1257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7073" b="0" i="0" u="none" strike="noStrike" dirty="0">
                <a:solidFill>
                  <a:srgbClr val="000000"/>
                </a:solidFill>
                <a:ea typeface="Pretendard Bold"/>
              </a:rPr>
              <a:t>약품</a:t>
            </a:r>
            <a:r>
              <a:rPr lang="en-US" sz="7073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 dirty="0">
                <a:solidFill>
                  <a:srgbClr val="000000"/>
                </a:solidFill>
                <a:ea typeface="Pretendard Bold"/>
              </a:rPr>
              <a:t>등록</a:t>
            </a:r>
            <a:r>
              <a:rPr lang="en-US" sz="7073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 dirty="0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7073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 dirty="0">
                <a:solidFill>
                  <a:srgbClr val="000000"/>
                </a:solidFill>
                <a:ea typeface="Pretendard Bold"/>
              </a:rPr>
              <a:t>관리</a:t>
            </a:r>
            <a:r>
              <a:rPr lang="en-US" sz="7073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 dirty="0">
                <a:solidFill>
                  <a:srgbClr val="000000"/>
                </a:solidFill>
                <a:ea typeface="Pretendard Bold"/>
              </a:rPr>
              <a:t>기능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3390900"/>
            <a:ext cx="4127500" cy="7607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086600" y="3352800"/>
            <a:ext cx="4152900" cy="775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111760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5333" b="0" i="0" u="none" strike="noStrike" spc="-160" dirty="0">
                <a:solidFill>
                  <a:srgbClr val="1A1A1A"/>
                </a:solidFill>
                <a:ea typeface="Pretendard ExtraBold"/>
              </a:rPr>
              <a:t>주요 기능 및 시연 - 유통기한 캘린더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4224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0" y="4800600"/>
            <a:ext cx="10515600" cy="3352800"/>
          </a:xfrm>
          <a:prstGeom prst="rect">
            <a:avLst/>
          </a:prstGeom>
        </p:spPr>
        <p:txBody>
          <a:bodyPr anchor="t"/>
          <a:lstStyle/>
          <a:p>
            <a:pPr marL="600759" lvl="0" indent="-600759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직관적인 시각화 (UI/UX)</a:t>
            </a: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DB 데이터를 기반으로 유통기한 만료 날짜를 자동으로 색상(Pink) 하이라이팅 처리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텍스트를 읽지 않아도 위험 날짜를 한눈에 파악 가능</a:t>
            </a:r>
          </a:p>
          <a:p>
            <a:pPr lvl="0" algn="l">
              <a:lnSpc>
                <a:spcPct val="116199"/>
              </a:lnSpc>
              <a:defRPr/>
            </a:pP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600759" lvl="0" indent="-600759" algn="l">
              <a:lnSpc>
                <a:spcPct val="116199"/>
              </a:lnSpc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실시간 상호작용 (Interaction)</a:t>
            </a: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이벤트 핸들링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: 달력 날짜 클릭 시, 해당 일자에 만료되는 약품 리스트를 즉시 필터링하여 출력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23800" y="3213100"/>
            <a:ext cx="9931400" cy="1257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유통기한</a:t>
            </a:r>
            <a:r>
              <a:rPr lang="en-US" sz="7073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달력</a:t>
            </a:r>
            <a:r>
              <a:rPr lang="en-US" sz="7073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관리</a:t>
            </a:r>
            <a:r>
              <a:rPr lang="en-US" sz="7073" b="0" i="0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>
                <a:solidFill>
                  <a:srgbClr val="000000"/>
                </a:solidFill>
                <a:ea typeface="Pretendard Bold"/>
              </a:rPr>
              <a:t>기능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91100" y="3213100"/>
            <a:ext cx="4381500" cy="811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112522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5333" b="0" i="0" u="none" strike="noStrike" spc="-160" dirty="0">
                <a:solidFill>
                  <a:srgbClr val="1A1A1A"/>
                </a:solidFill>
                <a:ea typeface="Pretendard ExtraBold"/>
              </a:rPr>
              <a:t>주요 기능 및 시연 - 데이터 통계 분석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4224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06400" y="5181600"/>
            <a:ext cx="9372600" cy="1498600"/>
          </a:xfrm>
          <a:prstGeom prst="rect">
            <a:avLst/>
          </a:prstGeom>
        </p:spPr>
        <p:txBody>
          <a:bodyPr anchor="t"/>
          <a:lstStyle/>
          <a:p>
            <a:pPr marL="600759" lvl="1" indent="-600759" algn="l">
              <a:lnSpc>
                <a:spcPct val="11619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약품 보유 현황 시각화</a:t>
            </a: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0" lvl="0" indent="0" algn="l">
              <a:lnSpc>
                <a:spcPct val="116199"/>
              </a:lnSpc>
              <a:buClr>
                <a:srgbClr val="000000"/>
              </a:buClr>
              <a:buFont typeface="Arial"/>
              <a:buNone/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원형 차트(Pie Chart): 보유 중인 약품의 종류별(알약, 물약 등) 비율을 분석하여 재고 현황 파악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600759" lvl="1" indent="-600759" algn="l">
              <a:lnSpc>
                <a:spcPct val="11619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폐기 시점 예측 시스템</a:t>
            </a: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0" lvl="1" indent="0" algn="l">
              <a:lnSpc>
                <a:spcPct val="116199"/>
              </a:lnSpc>
              <a:buClr>
                <a:srgbClr val="000000"/>
              </a:buClr>
              <a:buFont typeface="Arial"/>
              <a:buNone/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막대 차트(Bar Chart): 향후 6개월간 폐기해야 할 약품 수량을 월별로 예측하여 선제적 폐기 유도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73400" y="3581400"/>
            <a:ext cx="6019800" cy="1257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7073" b="0" i="0" u="none" strike="noStrike" dirty="0">
                <a:solidFill>
                  <a:srgbClr val="000000"/>
                </a:solidFill>
                <a:ea typeface="Pretendard Bold"/>
              </a:rPr>
              <a:t>통계</a:t>
            </a:r>
            <a:r>
              <a:rPr lang="en-US" sz="7073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073" b="0" i="0" u="none" strike="noStrike" dirty="0">
                <a:solidFill>
                  <a:srgbClr val="000000"/>
                </a:solidFill>
                <a:ea typeface="Pretendard Bold"/>
              </a:rPr>
              <a:t>차트</a:t>
            </a:r>
            <a:r>
              <a:rPr lang="en-US" sz="7073" b="0" i="0" u="none" strike="noStrike" dirty="0">
                <a:solidFill>
                  <a:srgbClr val="000000"/>
                </a:solidFill>
                <a:latin typeface="Pretendard Bold"/>
              </a:rPr>
              <a:t> </a:t>
            </a:r>
            <a:endParaRPr lang="ko-KR" altLang="en-US" sz="7073" b="0" i="0" u="none" strike="noStrike" dirty="0">
              <a:solidFill>
                <a:srgbClr val="000000"/>
              </a:solidFill>
              <a:latin typeface="Pretendard Bold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34000" y="3708400"/>
            <a:ext cx="41148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116332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5333" b="0" i="0" u="none" strike="noStrike" spc="-160" dirty="0">
                <a:solidFill>
                  <a:srgbClr val="1A1A1A"/>
                </a:solidFill>
                <a:ea typeface="Pretendard ExtraBold"/>
              </a:rPr>
              <a:t>주요 기능 및 시연 - 마이페이지 &amp; 보안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4224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58800" y="5181600"/>
            <a:ext cx="9296400" cy="3098800"/>
          </a:xfrm>
          <a:prstGeom prst="rect">
            <a:avLst/>
          </a:prstGeom>
        </p:spPr>
        <p:txBody>
          <a:bodyPr anchor="t"/>
          <a:lstStyle/>
          <a:p>
            <a:pPr marL="600759" lvl="1" indent="-600759" algn="l">
              <a:lnSpc>
                <a:spcPct val="11619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사용자 맞춤형 프로필 관리</a:t>
            </a: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0" lvl="1" indent="0" algn="l">
              <a:lnSpc>
                <a:spcPct val="116199"/>
              </a:lnSpc>
              <a:buClr>
                <a:srgbClr val="000000"/>
              </a:buClr>
              <a:buFont typeface="Arial"/>
              <a:buNone/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프로필 이미지 및 개인정보(이름, 전화번호) 실시간 DB 업데이트</a:t>
            </a:r>
          </a:p>
          <a:p>
            <a:pPr marL="0" lvl="1" indent="0" algn="l">
              <a:lnSpc>
                <a:spcPct val="116199"/>
              </a:lnSpc>
              <a:buClr>
                <a:srgbClr val="000000"/>
              </a:buClr>
              <a:buFont typeface="Arial"/>
              <a:buNone/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이미지 데이터(BLOB) 처리를 통한 프로필 사진 커스터마이징 지원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600759" lvl="1" indent="-600759" algn="l">
              <a:lnSpc>
                <a:spcPct val="116199"/>
              </a:lnSpc>
              <a:buClr>
                <a:srgbClr val="000000"/>
              </a:buClr>
              <a:buFont typeface="Arial"/>
              <a:buChar char="•"/>
              <a:defRPr/>
            </a:pPr>
            <a:r>
              <a:rPr lang="ko-KR" sz="3800" b="1" i="0" u="none" strike="noStrike">
                <a:solidFill>
                  <a:srgbClr val="000000"/>
                </a:solidFill>
                <a:ea typeface="Pretendard Regular"/>
              </a:rPr>
              <a:t>안전한 세션 관리</a:t>
            </a:r>
            <a:endParaRPr 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marL="0" lvl="1" indent="0" algn="l">
              <a:lnSpc>
                <a:spcPct val="116199"/>
              </a:lnSpc>
              <a:buClr>
                <a:srgbClr val="000000"/>
              </a:buClr>
              <a:buFont typeface="Arial"/>
              <a:buNone/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로그아웃 기능: 사용자 세션 초기화 및 보안 강화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68600" y="3581400"/>
            <a:ext cx="4902200" cy="1257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en" sz="7073" b="0" i="0" u="none" strike="noStrike">
                <a:solidFill>
                  <a:srgbClr val="000000"/>
                </a:solidFill>
                <a:ea typeface="Pretendard Bold"/>
              </a:rPr>
              <a:t>마이페이지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36800" y="3657600"/>
            <a:ext cx="4216400" cy="7759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391400" y="3746500"/>
            <a:ext cx="4064000" cy="7607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105664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ko-KR" sz="5333" b="0" i="0" u="none" strike="noStrike" spc="-160">
                <a:solidFill>
                  <a:srgbClr val="1A1A1A"/>
                </a:solidFill>
                <a:ea typeface="Pretendard ExtraBold"/>
              </a:rPr>
              <a:t>주요 기능 및 시연 - </a:t>
            </a:r>
            <a:r>
              <a:rPr lang="ko-KR" altLang="en-US" sz="5333" b="0" i="0" u="none" strike="noStrike" spc="-160">
                <a:solidFill>
                  <a:srgbClr val="1A1A1A"/>
                </a:solidFill>
                <a:ea typeface="Pretendard ExtraBold"/>
              </a:rPr>
              <a:t>시연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422400" cy="1066800"/>
          </a:xfrm>
          <a:prstGeom prst="rect">
            <a:avLst/>
          </a:prstGeom>
        </p:spPr>
        <p:txBody>
          <a:bodyPr lIns="0" tIns="7620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02</a:t>
            </a:r>
          </a:p>
        </p:txBody>
      </p:sp>
      <p:pic>
        <p:nvPicPr>
          <p:cNvPr id="5" name="MedicineManager.mp4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10115550" y="3076575"/>
            <a:ext cx="4152900" cy="835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8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6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16200" y="2895600"/>
            <a:ext cx="9575800" cy="8991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192000" y="2895600"/>
            <a:ext cx="9575800" cy="9067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616200" y="1257300"/>
            <a:ext cx="66040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5333" b="0" i="0" u="none" strike="noStrike">
                <a:solidFill>
                  <a:srgbClr val="1A1A1A"/>
                </a:solidFill>
                <a:ea typeface="Pretendard Bold"/>
              </a:rPr>
              <a:t>개발 과정에서 배운 점</a:t>
            </a:r>
            <a:endParaRPr lang="ko-KR" sz="5333" b="0" i="0" u="none" strike="noStrike" spc="-160">
              <a:solidFill>
                <a:srgbClr val="1A1A1A"/>
              </a:solidFill>
              <a:ea typeface="Pretendard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22400" y="1193800"/>
            <a:ext cx="1422400" cy="11811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11500" y="3200400"/>
            <a:ext cx="4432300" cy="749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4207" b="0" i="0" u="none" strike="noStrike">
                <a:solidFill>
                  <a:srgbClr val="000000"/>
                </a:solidFill>
                <a:latin typeface="메이플스토리"/>
                <a:ea typeface="메이플스토리"/>
              </a:rPr>
              <a:t>20250176</a:t>
            </a:r>
            <a:r>
              <a:rPr lang="ko-KR" altLang="en-US" sz="4207" b="0" i="0" u="none" strike="noStrike">
                <a:solidFill>
                  <a:srgbClr val="000000"/>
                </a:solidFill>
                <a:latin typeface="메이플스토리"/>
                <a:ea typeface="메이플스토리"/>
              </a:rPr>
              <a:t> 정현준</a:t>
            </a:r>
          </a:p>
        </p:txBody>
      </p:sp>
      <p:sp>
        <p:nvSpPr>
          <p:cNvPr id="11" name="TextBox 8"/>
          <p:cNvSpPr txBox="1"/>
          <p:nvPr/>
        </p:nvSpPr>
        <p:spPr>
          <a:xfrm>
            <a:off x="12801600" y="3352800"/>
            <a:ext cx="4495800" cy="749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4207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20248004 </a:t>
            </a:r>
            <a:r>
              <a:rPr lang="ko-KR" sz="4207" b="0" i="0" u="none" strike="noStrike" spc="-48">
                <a:solidFill>
                  <a:srgbClr val="1A1A1A"/>
                </a:solidFill>
                <a:latin typeface="메이플스토리"/>
                <a:ea typeface="메이플스토리"/>
              </a:rPr>
              <a:t>최효준</a:t>
            </a:r>
          </a:p>
          <a:p>
            <a:pPr lvl="0" algn="l">
              <a:lnSpc>
                <a:spcPct val="116199"/>
              </a:lnSpc>
              <a:defRPr/>
            </a:pPr>
            <a:endParaRPr lang="ko-KR" sz="4207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12" name="가로 글상자 11"/>
          <p:cNvSpPr txBox="1"/>
          <p:nvPr/>
        </p:nvSpPr>
        <p:spPr>
          <a:xfrm>
            <a:off x="2895600" y="4267200"/>
            <a:ext cx="8991600" cy="6456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800">
                <a:latin typeface="메이플스토리 OTF"/>
                <a:ea typeface="메이플스토리 OTF"/>
              </a:rPr>
              <a:t>  이번 </a:t>
            </a:r>
            <a:r>
              <a:rPr lang="en-US" altLang="ko-KR" sz="3800">
                <a:latin typeface="메이플스토리 OTF"/>
                <a:ea typeface="메이플스토리 OTF"/>
              </a:rPr>
              <a:t>c#</a:t>
            </a:r>
            <a:r>
              <a:rPr lang="ko-KR" altLang="en-US" sz="3800">
                <a:latin typeface="메이플스토리 OTF"/>
                <a:ea typeface="메이플스토리 OTF"/>
              </a:rPr>
              <a:t> 기말 프로젝트를 진행하면서 기존의 배웠던 내용에 대해 좀 더 깊은 이해를 가질 수 있었던 것 같다</a:t>
            </a:r>
            <a:r>
              <a:rPr lang="en-US" altLang="ko-KR" sz="3800">
                <a:latin typeface="메이플스토리 OTF"/>
                <a:ea typeface="메이플스토리 OTF"/>
              </a:rPr>
              <a:t>.</a:t>
            </a:r>
          </a:p>
          <a:p>
            <a:pPr lvl="0">
              <a:defRPr/>
            </a:pPr>
            <a:r>
              <a:rPr lang="ko-KR" altLang="en-US" sz="3800">
                <a:latin typeface="메이플스토리 OTF"/>
                <a:ea typeface="메이플스토리 OTF"/>
              </a:rPr>
              <a:t>  </a:t>
            </a:r>
            <a:r>
              <a:rPr lang="en-US" altLang="ko-KR" sz="3800">
                <a:latin typeface="메이플스토리 OTF"/>
                <a:ea typeface="메이플스토리 OTF"/>
              </a:rPr>
              <a:t>DB</a:t>
            </a:r>
            <a:r>
              <a:rPr lang="ko-KR" altLang="en-US" sz="3800">
                <a:latin typeface="메이플스토리 OTF"/>
                <a:ea typeface="메이플스토리 OTF"/>
              </a:rPr>
              <a:t>를 이용하는 것은 처음이였는데 제법 흥미로운 경험을 하였고</a:t>
            </a:r>
            <a:r>
              <a:rPr lang="en-US" altLang="ko-KR" sz="3800">
                <a:latin typeface="메이플스토리 OTF"/>
                <a:ea typeface="메이플스토리 OTF"/>
              </a:rPr>
              <a:t>,</a:t>
            </a:r>
            <a:r>
              <a:rPr lang="ko-KR" altLang="en-US" sz="3800">
                <a:latin typeface="메이플스토리 OTF"/>
                <a:ea typeface="메이플스토리 OTF"/>
              </a:rPr>
              <a:t> 처음으로 어느 정도 완성도 있는 프로그램을 만든 것이 이후에 좋은 경험으로 남을 듯 해서</a:t>
            </a:r>
            <a:r>
              <a:rPr lang="en-US" altLang="ko-KR" sz="3800">
                <a:latin typeface="메이플스토리 OTF"/>
                <a:ea typeface="메이플스토리 OTF"/>
              </a:rPr>
              <a:t>,</a:t>
            </a:r>
            <a:r>
              <a:rPr lang="ko-KR" altLang="en-US" sz="3800">
                <a:latin typeface="메이플스토리 OTF"/>
                <a:ea typeface="메이플스토리 OTF"/>
              </a:rPr>
              <a:t> 많은 것을 배운 프로젝트가 되었다</a:t>
            </a:r>
            <a:r>
              <a:rPr lang="en-US" altLang="ko-KR" sz="3800">
                <a:latin typeface="메이플스토리 OTF"/>
                <a:ea typeface="메이플스토리 OTF"/>
              </a:rPr>
              <a:t>.</a:t>
            </a:r>
          </a:p>
          <a:p>
            <a:pPr lvl="0">
              <a:defRPr/>
            </a:pPr>
            <a:r>
              <a:rPr lang="ko-KR" altLang="en-US" sz="3800">
                <a:latin typeface="메이플스토리 OTF"/>
                <a:ea typeface="메이플스토리 OTF"/>
              </a:rPr>
              <a:t> 시간 여유가 없어 계획에 비해 핵심 기능 위주로 우선순위를 두어 개발한 점은 조금 아쉽다</a:t>
            </a:r>
            <a:r>
              <a:rPr lang="en-US" altLang="ko-KR" sz="3800">
                <a:latin typeface="메이플스토리 OTF"/>
                <a:ea typeface="메이플스토리 OTF"/>
              </a:rPr>
              <a:t>.</a:t>
            </a:r>
            <a:r>
              <a:rPr lang="ko-KR" altLang="en-US" sz="3800">
                <a:latin typeface="메이플스토리 OTF"/>
                <a:ea typeface="메이플스토리 OTF"/>
              </a:rPr>
              <a:t> 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12496800" y="4419600"/>
            <a:ext cx="89916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800" dirty="0">
                <a:latin typeface="메이플스토리 OTF"/>
                <a:ea typeface="메이플스토리 OTF"/>
              </a:rPr>
              <a:t>이번 프로젝트를 진행 하면서 배웠던 내용을 통해서 프로젝트 만들려고 </a:t>
            </a:r>
            <a:r>
              <a:rPr lang="ko-KR" altLang="en-US" sz="3800" dirty="0" err="1">
                <a:latin typeface="메이플스토리 OTF"/>
                <a:ea typeface="메이플스토리 OTF"/>
              </a:rPr>
              <a:t>하다보니</a:t>
            </a:r>
            <a:r>
              <a:rPr lang="ko-KR" altLang="en-US" sz="3800" dirty="0">
                <a:latin typeface="메이플스토리 OTF"/>
                <a:ea typeface="메이플스토리 OTF"/>
              </a:rPr>
              <a:t> 어려움 부분도 많았고 처음 만들다 보니 완성도 부분에서 아쉬움도 있었지만 좋은 경험이었다</a:t>
            </a:r>
            <a:r>
              <a:rPr lang="en-US" altLang="ko-KR" sz="3800" dirty="0">
                <a:latin typeface="메이플스토리 OTF"/>
                <a:ea typeface="메이플스토리 OTF"/>
              </a:rPr>
              <a:t>.</a:t>
            </a:r>
            <a:endParaRPr lang="ko-KR" altLang="en-US" sz="3800" dirty="0">
              <a:latin typeface="메이플스토리 OTF"/>
              <a:ea typeface="메이플스토리 OT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54150" y="2438399"/>
            <a:ext cx="21475700" cy="9677400"/>
          </a:xfrm>
          <a:prstGeom prst="rect">
            <a:avLst/>
          </a:prstGeom>
        </p:spPr>
      </p:pic>
      <p:pic>
        <p:nvPicPr>
          <p:cNvPr id="3" name="Picture 3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2616200" y="3048000"/>
            <a:ext cx="9541193" cy="4140517"/>
          </a:xfrm>
          <a:prstGeom prst="rect">
            <a:avLst/>
          </a:prstGeom>
        </p:spPr>
      </p:pic>
      <p:pic>
        <p:nvPicPr>
          <p:cNvPr id="4" name="Picture 4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12204700" y="3048000"/>
            <a:ext cx="9541193" cy="4140517"/>
          </a:xfrm>
          <a:prstGeom prst="rect">
            <a:avLst/>
          </a:prstGeom>
        </p:spPr>
      </p:pic>
      <p:pic>
        <p:nvPicPr>
          <p:cNvPr id="5" name="Picture 5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2590800" y="7391400"/>
            <a:ext cx="9541193" cy="4140517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616200" y="1257300"/>
            <a:ext cx="40259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" sz="5333" b="0" i="0" u="none" strike="noStrike">
                <a:solidFill>
                  <a:srgbClr val="1A1A1A"/>
                </a:solidFill>
                <a:ea typeface="Pretendard Bold"/>
              </a:rPr>
              <a:t>개선 사항</a:t>
            </a:r>
            <a:endParaRPr lang="ko-KR" sz="5333" b="0" i="0" u="none" strike="noStrike" spc="-160">
              <a:solidFill>
                <a:srgbClr val="1A1A1A"/>
              </a:solidFill>
              <a:ea typeface="Pretendard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22400" y="1193800"/>
            <a:ext cx="1422400" cy="1181100"/>
          </a:xfrm>
          <a:prstGeom prst="rect">
            <a:avLst/>
          </a:prstGeom>
        </p:spPr>
        <p:txBody>
          <a:bodyPr lIns="0" tIns="7620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</a:t>
            </a:r>
            <a:r>
              <a:rPr lang="en-US" altLang="ko-KR" sz="6000" b="0" i="0" u="none" strike="noStrike" spc="-120">
                <a:solidFill>
                  <a:srgbClr val="509BF8"/>
                </a:solidFill>
                <a:latin typeface="Poppins Bold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11500" y="3517900"/>
            <a:ext cx="8306957" cy="749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4207" b="1" i="0" u="none" strike="noStrike">
                <a:solidFill>
                  <a:srgbClr val="000000"/>
                </a:solidFill>
                <a:ea typeface="Pretendard Regular"/>
              </a:rPr>
              <a:t>1.</a:t>
            </a:r>
            <a:r>
              <a:rPr lang="ko-KR" altLang="en-US" sz="4207" b="1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4207" b="1" i="0" u="none" strike="noStrike">
                <a:solidFill>
                  <a:srgbClr val="000000"/>
                </a:solidFill>
                <a:ea typeface="Pretendard Regular"/>
              </a:rPr>
              <a:t>유통</a:t>
            </a:r>
            <a:r>
              <a:rPr lang="en-US" sz="4207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1" i="0" u="none" strike="noStrike">
                <a:solidFill>
                  <a:srgbClr val="000000"/>
                </a:solidFill>
                <a:ea typeface="Pretendard Regular"/>
              </a:rPr>
              <a:t>기한</a:t>
            </a:r>
            <a:r>
              <a:rPr lang="en-US" sz="4207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1" i="0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4207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1" i="0" u="none" strike="noStrike">
                <a:solidFill>
                  <a:srgbClr val="000000"/>
                </a:solidFill>
                <a:ea typeface="Pretendard Regular"/>
              </a:rPr>
              <a:t>알람</a:t>
            </a:r>
            <a:r>
              <a:rPr lang="en-US" sz="4207" b="1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07" b="1" i="0" u="none" strike="noStrike">
                <a:solidFill>
                  <a:srgbClr val="000000"/>
                </a:solidFill>
                <a:ea typeface="Pretendard Regular"/>
              </a:rPr>
              <a:t>기능</a:t>
            </a:r>
            <a:endParaRPr lang="ko-KR" sz="4207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윈도우 트레이(Tray) 알림을 활용하여 앱 실행 여부와 관계없이 유통기한 임박 시 푸시 알림 전송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77800" y="3530600"/>
            <a:ext cx="7569200" cy="14986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4207" b="1" i="0" u="none" strike="noStrike">
                <a:solidFill>
                  <a:srgbClr val="000000"/>
                </a:solidFill>
                <a:ea typeface="Pretendard Regular"/>
              </a:rPr>
              <a:t>2. 관리자 모드 및 공지사항</a:t>
            </a:r>
            <a:endParaRPr lang="ko-KR" sz="4207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관리자(Administrator) 계정 권한 도입 및 공지사항 게시판 기능 구현</a:t>
            </a:r>
          </a:p>
        </p:txBody>
      </p:sp>
      <p:pic>
        <p:nvPicPr>
          <p:cNvPr id="11" name="Picture 4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12192000" y="7391400"/>
            <a:ext cx="9541193" cy="4140517"/>
          </a:xfrm>
          <a:prstGeom prst="rect">
            <a:avLst/>
          </a:prstGeom>
        </p:spPr>
      </p:pic>
      <p:sp>
        <p:nvSpPr>
          <p:cNvPr id="14" name="TextBox 8"/>
          <p:cNvSpPr txBox="1"/>
          <p:nvPr/>
        </p:nvSpPr>
        <p:spPr>
          <a:xfrm>
            <a:off x="3200400" y="7861300"/>
            <a:ext cx="8306957" cy="749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4207" b="1" i="0" u="none" strike="noStrike">
                <a:solidFill>
                  <a:srgbClr val="000000"/>
                </a:solidFill>
                <a:ea typeface="Pretendard Regular"/>
              </a:rPr>
              <a:t>3. 데이터 백업 및 복원</a:t>
            </a:r>
            <a:endParaRPr lang="en-US" altLang="ko-KR" sz="38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로컬 DB의 한계를 보완하기 위한 CSV 내보내기/가져오기 또는 서버 연동을 통한 데이터 이중 보관</a:t>
            </a:r>
          </a:p>
        </p:txBody>
      </p:sp>
      <p:sp>
        <p:nvSpPr>
          <p:cNvPr id="15" name="TextBox 8"/>
          <p:cNvSpPr txBox="1"/>
          <p:nvPr/>
        </p:nvSpPr>
        <p:spPr>
          <a:xfrm>
            <a:off x="12649200" y="7861300"/>
            <a:ext cx="8306957" cy="749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4207" b="1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4207" b="1" i="0" u="none" strike="noStrike">
                <a:solidFill>
                  <a:srgbClr val="000000"/>
                </a:solidFill>
                <a:ea typeface="Pretendard Regular"/>
              </a:rPr>
              <a:t>4.</a:t>
            </a:r>
            <a:r>
              <a:rPr lang="ko-KR" altLang="en-US" sz="4207" b="1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4207" b="1" i="0" u="none" strike="noStrike">
                <a:solidFill>
                  <a:srgbClr val="000000"/>
                </a:solidFill>
                <a:ea typeface="Pretendard Regular"/>
              </a:rPr>
              <a:t>UI/UX 고도화</a:t>
            </a:r>
          </a:p>
          <a:p>
            <a:pPr lvl="0" algn="l">
              <a:lnSpc>
                <a:spcPct val="116199"/>
              </a:lnSpc>
              <a:defRPr/>
            </a:pP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en-US" altLang="ko-KR" sz="3800" b="0" i="0" u="none" strike="noStrike">
                <a:solidFill>
                  <a:srgbClr val="000000"/>
                </a:solidFill>
                <a:ea typeface="Pretendard Regular"/>
              </a:rPr>
              <a:t>-</a:t>
            </a:r>
            <a:r>
              <a:rPr lang="ko-KR" altLang="en-US" sz="3800" b="0" i="0" u="none" strike="noStrike">
                <a:solidFill>
                  <a:srgbClr val="000000"/>
                </a:solidFill>
                <a:ea typeface="Pretendard Regular"/>
              </a:rPr>
              <a:t> </a:t>
            </a:r>
            <a:r>
              <a:rPr lang="ko-KR" sz="3800" b="0" i="0" u="none" strike="noStrike">
                <a:solidFill>
                  <a:srgbClr val="000000"/>
                </a:solidFill>
                <a:ea typeface="Pretendard Regular"/>
              </a:rPr>
              <a:t>사용자 경험(UX)을 고려한 직관적인 디자인 개선 및 부드러운 애니메이션 효과 적용</a:t>
            </a:r>
          </a:p>
        </p:txBody>
      </p:sp>
    </p:spTree>
    <p:extLst>
      <p:ext uri="{BB962C8B-B14F-4D97-AF65-F5344CB8AC3E}">
        <p14:creationId xmlns:p14="http://schemas.microsoft.com/office/powerpoint/2010/main" val="311923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616200" y="1257300"/>
            <a:ext cx="3517900" cy="1003300"/>
          </a:xfrm>
          <a:prstGeom prst="rect">
            <a:avLst/>
          </a:prstGeom>
        </p:spPr>
        <p:txBody>
          <a:bodyPr lIns="0" tIns="33866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" sz="5333" b="0" i="0" u="none" strike="noStrike" spc="-160">
                <a:solidFill>
                  <a:srgbClr val="1A1A1A"/>
                </a:solidFill>
                <a:ea typeface="Pretendard ExtraBold"/>
              </a:rPr>
              <a:t>질</a:t>
            </a:r>
            <a:r>
              <a:rPr lang="ko-KR" altLang="en-US" sz="5333" b="0" i="0" u="none" strike="noStrike" spc="-160">
                <a:solidFill>
                  <a:srgbClr val="1A1A1A"/>
                </a:solidFill>
                <a:ea typeface="Pretendard ExtraBold"/>
              </a:rPr>
              <a:t>의응답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22400" y="1193800"/>
            <a:ext cx="1422400" cy="1181100"/>
          </a:xfrm>
          <a:prstGeom prst="rect">
            <a:avLst/>
          </a:prstGeom>
        </p:spPr>
        <p:txBody>
          <a:bodyPr lIns="0" tIns="7620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" sz="6000" b="0" i="0" u="none" strike="noStrike" spc="-120">
                <a:solidFill>
                  <a:srgbClr val="509BF8"/>
                </a:solidFill>
                <a:latin typeface="Poppins Bold"/>
              </a:rPr>
              <a:t>0</a:t>
            </a:r>
            <a:r>
              <a:rPr lang="en-US" altLang="ko-KR" sz="6000" b="0" i="0" u="none" strike="noStrike" spc="-120">
                <a:solidFill>
                  <a:srgbClr val="509BF8"/>
                </a:solidFill>
                <a:latin typeface="Poppins Bold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17225" y="6477000"/>
            <a:ext cx="2749550" cy="18542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10409" b="0" i="0" u="none" strike="noStrike">
                <a:solidFill>
                  <a:srgbClr val="000000"/>
                </a:solidFill>
                <a:ea typeface="Pretendard Black"/>
              </a:rPr>
              <a:t>Q&amp;A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60500" y="2565400"/>
            <a:ext cx="21475700" cy="9677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832850" y="5930900"/>
            <a:ext cx="8388350" cy="18542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sz="10409" b="0" i="0" u="none" strike="noStrike" dirty="0">
                <a:solidFill>
                  <a:srgbClr val="000000"/>
                </a:solidFill>
                <a:ea typeface="Pretendard Black"/>
              </a:rPr>
              <a:t>감사합니다</a:t>
            </a:r>
            <a:r>
              <a:rPr lang="en-US" altLang="ko-KR" sz="10409" b="0" i="0" u="none" strike="noStrike" dirty="0">
                <a:solidFill>
                  <a:srgbClr val="000000"/>
                </a:solidFill>
                <a:latin typeface="Pretendard Black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637</Words>
  <Application>Microsoft Office PowerPoint</Application>
  <PresentationFormat>사용자 지정</PresentationFormat>
  <Paragraphs>96</Paragraphs>
  <Slides>13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Poppins Bold</vt:lpstr>
      <vt:lpstr>Pretendard Black</vt:lpstr>
      <vt:lpstr>Pretendard Bold</vt:lpstr>
      <vt:lpstr>Pretendard ExtraBold</vt:lpstr>
      <vt:lpstr>Pretendard Regular</vt:lpstr>
      <vt:lpstr>메이플스토리</vt:lpstr>
      <vt:lpstr>메이플스토리 OTF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PC1</cp:lastModifiedBy>
  <cp:revision>39</cp:revision>
  <dcterms:created xsi:type="dcterms:W3CDTF">2006-08-16T00:00:00Z</dcterms:created>
  <dcterms:modified xsi:type="dcterms:W3CDTF">2025-12-17T01:16:06Z</dcterms:modified>
  <cp:version/>
</cp:coreProperties>
</file>